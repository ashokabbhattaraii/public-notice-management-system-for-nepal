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64" r:id="rId13"/>
    <p:sldId id="265" r:id="rId14"/>
    <p:sldId id="266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6"/>
    <p:restoredTop sz="93667"/>
  </p:normalViewPr>
  <p:slideViewPr>
    <p:cSldViewPr snapToGrid="0" snapToObjects="1">
      <p:cViewPr>
        <p:scale>
          <a:sx n="123" d="100"/>
          <a:sy n="123" d="100"/>
        </p:scale>
        <p:origin x="1200" y="7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8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1874519"/>
            <a:ext cx="1737360" cy="3810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9CC3E8"/>
                </a:solidFill>
                <a:latin typeface="Times New Roman"/>
              </a:rPr>
              <a:t>FINAL YEAR PROJECT  ·  SYSTEM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Suchana AI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300" b="0" i="0">
                <a:solidFill>
                  <a:srgbClr val="D8E4EF"/>
                </a:solidFill>
                <a:latin typeface="Times New Roman"/>
              </a:rPr>
              <a:t>An AI-Powered Cloud-Based Public Notice Management System for Nepal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0916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C9D8E6"/>
                </a:solidFill>
                <a:latin typeface="Times New Roman"/>
              </a:rPr>
              <a:t>Presented by:  </a:t>
            </a:r>
            <a:r>
              <a:rPr sz="1500" b="0" i="0">
                <a:solidFill>
                  <a:srgbClr val="C9D8E6"/>
                </a:solidFill>
                <a:latin typeface="Times New Roman"/>
              </a:rPr>
              <a:t>Ashok Bhattarai  (NP069811)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9CC3E8"/>
                </a:solidFill>
                <a:latin typeface="Times New Roman"/>
              </a:rPr>
              <a:t>Next.js 16  ·  NestJS 11  ·  Python ASGI  ·  PostgreSQL  ·  Qdrant  ·  crawl4ai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2910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FA9C0"/>
                </a:solidFill>
                <a:latin typeface="Times New Roman"/>
              </a:rPr>
              <a:t>Introduction  ·  Architecture  ·  Flows  ·  User Interface  · 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Why public notices in Nepal are hard to find and easy to miss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500" b="1" i="0" dirty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500" b="1" i="0" dirty="0">
                <a:solidFill>
                  <a:srgbClr val="1A1A1A"/>
                </a:solidFill>
                <a:latin typeface="Times New Roman"/>
              </a:rPr>
              <a:t>Fragmented sources. 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Every ministry, commission and public body publishes to its own website; there is no single national index.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 dirty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500" b="1" i="0" dirty="0">
                <a:solidFill>
                  <a:srgbClr val="1A1A1A"/>
                </a:solidFill>
                <a:latin typeface="Times New Roman"/>
              </a:rPr>
              <a:t>Unstructured formats. 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Most notices are scanned PDFs or images — invisible to ordinary text search engines.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 dirty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500" b="1" i="0" dirty="0">
                <a:solidFill>
                  <a:srgbClr val="1A1A1A"/>
                </a:solidFill>
                <a:latin typeface="Times New Roman"/>
              </a:rPr>
              <a:t>Deadline-driven loss. 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Vacancies, tenders and exam notices carry short windows; citizens miss them simply by not checking daily.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 dirty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500" b="1" i="0" dirty="0">
                <a:solidFill>
                  <a:srgbClr val="1A1A1A"/>
                </a:solidFill>
                <a:latin typeface="Times New Roman"/>
              </a:rPr>
              <a:t>Language barrier. 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Content is mixed Nepali and English, and existing search does not handle Devanagari well.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 dirty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500" b="1" i="0" dirty="0">
                <a:solidFill>
                  <a:srgbClr val="1A1A1A"/>
                </a:solidFill>
                <a:latin typeface="Times New Roman"/>
              </a:rPr>
              <a:t>No push channel. 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Nothing notifies a citizen when a notice relevant to them appears.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691640"/>
            <a:ext cx="4160520" cy="397763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60920" y="1691640"/>
            <a:ext cx="38100" cy="3977639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2088" y="1837944"/>
            <a:ext cx="3758184" cy="397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0C2D48"/>
                </a:solidFill>
                <a:latin typeface="Times New Roman"/>
              </a:rPr>
              <a:t>Consequence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sz="1500" b="1" i="0">
              <a:solidFill>
                <a:srgbClr val="0C2D48"/>
              </a:solidFill>
              <a:latin typeface="Times New Roman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A citizen must manually visit dozens of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government portals, read scanned documents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one by one, and repeat this every single day —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with no guarantee of completeness.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sz="1250" b="0" i="0">
              <a:solidFill>
                <a:srgbClr val="1A1A1A"/>
              </a:solidFill>
              <a:latin typeface="Times New Roman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Suchana AI replaces that manual routine with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automated aggregation, machine-readable text,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semantic search and personalised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Aim, Objectives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749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Times New Roman"/>
              </a:rPr>
              <a:t>Aim:  </a:t>
            </a:r>
            <a:r>
              <a:rPr sz="1550" b="0" i="0">
                <a:solidFill>
                  <a:srgbClr val="1A1A1A"/>
                </a:solidFill>
                <a:latin typeface="Times New Roman"/>
              </a:rPr>
              <a:t>to design and build a cloud-based platform that automatically aggregates public notices from Nepali government sources, makes them searchable in natural language, and delivers relevant notices to citizens through personalised alerts.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514600"/>
            <a:ext cx="3611880" cy="3246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514600"/>
            <a:ext cx="38100" cy="324612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660904"/>
            <a:ext cx="3209544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0C2D48"/>
                </a:solidFill>
                <a:latin typeface="Times New Roman"/>
              </a:rPr>
              <a:t>Objectives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Aggregate notices from any public source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  without writing per-site code.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Extract text from scanned documents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  using bilingual OCR (Nepali + English).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Answer natural-language questions with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  citations from the notice corpus.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Deliver keyword and category alerts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  over email and WhatsApp.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0288" y="2514600"/>
            <a:ext cx="3611880" cy="3246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90288" y="2514600"/>
            <a:ext cx="38100" cy="324612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91456" y="2660904"/>
            <a:ext cx="3209544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0C2D48"/>
                </a:solidFill>
                <a:latin typeface="Times New Roman"/>
              </a:rPr>
              <a:t>In Scope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Public browsing, search and filtering.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Authenticated user dashboard: saved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  notices, alert rules, activity.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Admin panel: sources, scrape runs,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  notices, users, plans, settings.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RAG document upload and chat.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Subscription plans and usage quotas.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22208" y="2514600"/>
            <a:ext cx="3611880" cy="3246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22208" y="2514600"/>
            <a:ext cx="38100" cy="324612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23376" y="2660904"/>
            <a:ext cx="3209544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0C2D48"/>
                </a:solidFill>
                <a:latin typeface="Times New Roman"/>
              </a:rPr>
              <a:t>Out of Scope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Native mobile applications.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Legally authoritative republication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  of government documents.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Automatic translation between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  Nepali and English notice text.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• Real-time (sub-minute) scraping of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  every configured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The System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Five capabilities delivered by three cooperating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361188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38100" cy="1874519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837944"/>
            <a:ext cx="3209544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0C2D48"/>
                </a:solidFill>
                <a:latin typeface="Times New Roman"/>
              </a:rPr>
              <a:t>01.  Automated Aggregation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Admin adds a source URL; the crawler detects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the page structure itself and keeps scraping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on a schedule — no per-site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0288" y="1691640"/>
            <a:ext cx="361188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90288" y="1691640"/>
            <a:ext cx="38100" cy="1874519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91456" y="1837944"/>
            <a:ext cx="3209544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0C2D48"/>
                </a:solidFill>
                <a:latin typeface="Times New Roman"/>
              </a:rPr>
              <a:t>02.  Bilingual OCR Ingestion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Scanned PDFs and images are converted to text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with Tesseract (nep + eng), making image-only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notices fully searchable.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22208" y="1691640"/>
            <a:ext cx="361188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22208" y="1691640"/>
            <a:ext cx="38100" cy="1874519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23376" y="1837944"/>
            <a:ext cx="3209544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0C2D48"/>
                </a:solidFill>
                <a:latin typeface="Times New Roman"/>
              </a:rPr>
              <a:t>03.  RAG Question Answering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Ask a question in plain Nepali or English;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answers are generated only from retrieved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notice text, with source citations.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858767"/>
            <a:ext cx="361188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3858767"/>
            <a:ext cx="38100" cy="1874519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005071"/>
            <a:ext cx="3209544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0C2D48"/>
                </a:solidFill>
                <a:latin typeface="Times New Roman"/>
              </a:rPr>
              <a:t>04.  Personalised Alerts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Keyword, category and organisation rules are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matched against every new notice and pushed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by email and WhatsApp.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0288" y="3858767"/>
            <a:ext cx="361188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90288" y="3858767"/>
            <a:ext cx="38100" cy="1874519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91456" y="4005071"/>
            <a:ext cx="3209544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0C2D48"/>
                </a:solidFill>
                <a:latin typeface="Times New Roman"/>
              </a:rPr>
              <a:t>05.  Role-Based Administration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Separate guest, user and admin surfaces;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admins manage sources, notices, users,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plans and system settings.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22208" y="3858767"/>
            <a:ext cx="361188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22208" y="3858767"/>
            <a:ext cx="38100" cy="1874519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23376" y="4005071"/>
            <a:ext cx="3209544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0C2D48"/>
                </a:solidFill>
                <a:latin typeface="Times New Roman"/>
              </a:rPr>
              <a:t>06.  Multilingual Interface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The entire interface switches between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English and नेपाली instantly, with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locale-aware 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Chosen for a single-developer build with production-grade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10874959" cy="384048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161686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3833" y="1645920"/>
            <a:ext cx="383863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624" y="1645920"/>
            <a:ext cx="500798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Why this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29968"/>
            <a:ext cx="161686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3833" y="2029968"/>
            <a:ext cx="383863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Next.js 16 · React 19 · Tailwind v4 · shadcn/ui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624" y="2029968"/>
            <a:ext cx="500798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App Router streaming, one language across the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368296"/>
            <a:ext cx="10874959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368296"/>
            <a:ext cx="10874959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414016"/>
            <a:ext cx="161686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3833" y="2414016"/>
            <a:ext cx="383863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NestJS 11 · Prisma 6 ·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624" y="2414016"/>
            <a:ext cx="500798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Modular DI structure, typed schema and migrations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752344"/>
            <a:ext cx="10874959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2798064"/>
            <a:ext cx="161686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AI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3833" y="2798064"/>
            <a:ext cx="383863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Python raw ASGI on Uvicorn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9624" y="2798064"/>
            <a:ext cx="500798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Only seven routes — no framework overhead needed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136392"/>
            <a:ext cx="10874959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3136392"/>
            <a:ext cx="10874959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182112"/>
            <a:ext cx="161686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Vector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3833" y="3182112"/>
            <a:ext cx="383863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Qdrant (dense + BM25 sparse)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9624" y="3182112"/>
            <a:ext cx="500798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Payload filtering and native hybrid fusion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520440"/>
            <a:ext cx="10874959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3566160"/>
            <a:ext cx="161686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3833" y="3566160"/>
            <a:ext cx="383863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intfloat/multilingual-e5-base (768-dim)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9624" y="3566160"/>
            <a:ext cx="500798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Nepali and English share one vector space, free and CPU-friendly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904488"/>
            <a:ext cx="10874959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3904488"/>
            <a:ext cx="10874959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" y="3950208"/>
            <a:ext cx="161686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Generation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03833" y="3950208"/>
            <a:ext cx="383863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Groq — llama-3.3-70b-versatile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9624" y="3950208"/>
            <a:ext cx="500798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Very fast inference, OpenAI-compatible, generous free tier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288536"/>
            <a:ext cx="10874959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4334256"/>
            <a:ext cx="161686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Crawling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3833" y="4334256"/>
            <a:ext cx="383863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crawl4ai (Playwright-backed, async)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9624" y="4334256"/>
            <a:ext cx="500798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Renders JavaScript pages; declarative CSS-to-JSON extraction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672584"/>
            <a:ext cx="10874959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8368" y="4672584"/>
            <a:ext cx="10874959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" y="4718304"/>
            <a:ext cx="161686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OCR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03833" y="4718304"/>
            <a:ext cx="383863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Tesseract via pytesseract (nep + eng)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9624" y="4718304"/>
            <a:ext cx="500798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Scanned government notices need a Nepali language pack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056632"/>
            <a:ext cx="10874959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8" y="5102352"/>
            <a:ext cx="161686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Notifications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03833" y="5102352"/>
            <a:ext cx="383863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SMTP email · Evolution API (WhatsApp)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9624" y="5102352"/>
            <a:ext cx="500798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Reaches citizens on the channel they actually use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440680"/>
            <a:ext cx="10874959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8368" y="5440680"/>
            <a:ext cx="10874959" cy="3840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9808" y="5486400"/>
            <a:ext cx="161686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Tooling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03833" y="5486400"/>
            <a:ext cx="383863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Turborepo · pnpm workspaces · TypeScript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9624" y="5486400"/>
            <a:ext cx="500798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One repository, cached builds, shared domain types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5824728"/>
            <a:ext cx="10874959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Three services, one system of record, clear ownership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35E58BD-4C05-FC39-7D87-B3FA08A5F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457" y="0"/>
            <a:ext cx="411697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End-to-End Request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How a single user action travels through the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7</a:t>
            </a:r>
          </a:p>
        </p:txBody>
      </p:sp>
      <p:sp>
        <p:nvSpPr>
          <p:cNvPr id="7" name="Pentagon 6"/>
          <p:cNvSpPr/>
          <p:nvPr/>
        </p:nvSpPr>
        <p:spPr>
          <a:xfrm>
            <a:off x="658368" y="1691640"/>
            <a:ext cx="1721053" cy="960120"/>
          </a:xfrm>
          <a:prstGeom prst="homePlate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Browser
(Next.js)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2491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User action on a
client component</a:t>
            </a:r>
          </a:p>
        </p:txBody>
      </p:sp>
      <p:sp>
        <p:nvSpPr>
          <p:cNvPr id="9" name="Pentagon 8"/>
          <p:cNvSpPr/>
          <p:nvPr/>
        </p:nvSpPr>
        <p:spPr>
          <a:xfrm>
            <a:off x="2489149" y="1691640"/>
            <a:ext cx="1721053" cy="96012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NestJS API
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9149" y="272491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Validated DTO,
request ID attached</a:t>
            </a:r>
          </a:p>
        </p:txBody>
      </p:sp>
      <p:sp>
        <p:nvSpPr>
          <p:cNvPr id="11" name="Pentagon 10"/>
          <p:cNvSpPr/>
          <p:nvPr/>
        </p:nvSpPr>
        <p:spPr>
          <a:xfrm>
            <a:off x="4319930" y="1691640"/>
            <a:ext cx="1721053" cy="96012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Guards &amp;
Quota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9930" y="272491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JWT verified, role
and plan checked</a:t>
            </a:r>
          </a:p>
        </p:txBody>
      </p:sp>
      <p:sp>
        <p:nvSpPr>
          <p:cNvPr id="13" name="Pentagon 12"/>
          <p:cNvSpPr/>
          <p:nvPr/>
        </p:nvSpPr>
        <p:spPr>
          <a:xfrm>
            <a:off x="6150711" y="1691640"/>
            <a:ext cx="1721053" cy="96012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Prisma /
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0711" y="272491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System of record
for all entities</a:t>
            </a:r>
          </a:p>
        </p:txBody>
      </p:sp>
      <p:sp>
        <p:nvSpPr>
          <p:cNvPr id="15" name="Pentagon 14"/>
          <p:cNvSpPr/>
          <p:nvPr/>
        </p:nvSpPr>
        <p:spPr>
          <a:xfrm>
            <a:off x="7981492" y="1691640"/>
            <a:ext cx="1721053" cy="96012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Python AI
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1492" y="272491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Only for AI work:
crawl, embed, 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12273" y="1691640"/>
            <a:ext cx="1721053" cy="96012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Response
+ Citations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2273" y="272491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Typed JSON returned
to the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977639"/>
            <a:ext cx="10874959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i="0">
                <a:solidFill>
                  <a:srgbClr val="0C2D48"/>
                </a:solidFill>
                <a:latin typeface="Times New Roman"/>
              </a:rPr>
              <a:t>Cross-cutting behaviour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350" b="1" i="0">
                <a:solidFill>
                  <a:srgbClr val="1A1A1A"/>
                </a:solidFill>
                <a:latin typeface="Times New Roman"/>
              </a:rPr>
              <a:t>Correlation IDs — </a:t>
            </a:r>
            <a:r>
              <a:rPr sz="1350" b="0" i="0">
                <a:solidFill>
                  <a:srgbClr val="1A1A1A"/>
                </a:solidFill>
                <a:latin typeface="Times New Roman"/>
              </a:rPr>
              <a:t>an x-request-id is generated by NestJS middleware, forwarded through the axios interceptor, and set on the AI service, so one identifier links the logs of all three services.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350" b="1" i="0">
                <a:solidFill>
                  <a:srgbClr val="1A1A1A"/>
                </a:solidFill>
                <a:latin typeface="Times New Roman"/>
              </a:rPr>
              <a:t>Structured logging — </a:t>
            </a:r>
            <a:r>
              <a:rPr sz="1350" b="0" i="0">
                <a:solidFill>
                  <a:srgbClr val="1A1A1A"/>
                </a:solidFill>
                <a:latin typeface="Times New Roman"/>
              </a:rPr>
              <a:t>all services emit JSON logs by default, with configurable level, format and slow-query thresholds.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350" b="1" i="0">
                <a:solidFill>
                  <a:srgbClr val="1A1A1A"/>
                </a:solidFill>
                <a:latin typeface="Times New Roman"/>
              </a:rPr>
              <a:t>Read-path caching — </a:t>
            </a:r>
            <a:r>
              <a:rPr sz="1350" b="0" i="0">
                <a:solidFill>
                  <a:srgbClr val="1A1A1A"/>
                </a:solidFill>
                <a:latin typeface="Times New Roman"/>
              </a:rPr>
              <a:t>the public notices list and category counts are served from an in-process TTL cache (10s and 60s), cutting repeated database work under load.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350" b="1" i="0">
                <a:solidFill>
                  <a:srgbClr val="1A1A1A"/>
                </a:solidFill>
                <a:latin typeface="Times New Roman"/>
              </a:rPr>
              <a:t>Connection tuning — </a:t>
            </a:r>
            <a:r>
              <a:rPr sz="1350" b="0" i="0">
                <a:solidFill>
                  <a:srgbClr val="1A1A1A"/>
                </a:solidFill>
                <a:latin typeface="Times New Roman"/>
              </a:rPr>
              <a:t>pool size, pool timeout and a forced UTC session are applied to the database URL at startup so timezone-aware queries never drift.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Domain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PostgreSQL is the single system of record; Qdrant stores only vectors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7947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i="0">
                <a:solidFill>
                  <a:srgbClr val="0C2D48"/>
                </a:solidFill>
                <a:latin typeface="Times New Roman"/>
              </a:rPr>
              <a:t>Core entities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User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 — identity, role, plan and usage.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Notice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 — title, organisation, category, priority, publish and expiry dates, source URL.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Document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 — an uploaded or scraped file, its extraction status and OCR flag.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Alert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 — a user rule of type keyword, category or organisation, with match history.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ScrapeSource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 — a configured site, its cached CSS schema and pagination scheme.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300" b="1" i="0">
                <a:solidFill>
                  <a:srgbClr val="1A1A1A"/>
                </a:solidFill>
                <a:latin typeface="Times New Roman"/>
              </a:rPr>
              <a:t>ScrapeRun / ScrapedItem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 — run history, live status and deduplicated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7044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A636E"/>
                </a:solidFill>
                <a:latin typeface="Times New Roman"/>
              </a:rPr>
              <a:t>Figure 2 — Entity relationship 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00A12F-15D8-6A38-50F9-6A50388DE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449" y="1444925"/>
            <a:ext cx="5292411" cy="42218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Pipeline I — Notice Scraping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Dynamic, multi-source crawling with no per-site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12</a:t>
            </a:r>
          </a:p>
        </p:txBody>
      </p:sp>
      <p:sp>
        <p:nvSpPr>
          <p:cNvPr id="7" name="Pentagon 6"/>
          <p:cNvSpPr/>
          <p:nvPr/>
        </p:nvSpPr>
        <p:spPr>
          <a:xfrm>
            <a:off x="658368" y="1645920"/>
            <a:ext cx="1721053" cy="914400"/>
          </a:xfrm>
          <a:prstGeom prst="homePlate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Admin adds
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Name, base URL,
listing URLs</a:t>
            </a:r>
          </a:p>
        </p:txBody>
      </p:sp>
      <p:sp>
        <p:nvSpPr>
          <p:cNvPr id="9" name="Pentagon 8"/>
          <p:cNvSpPr/>
          <p:nvPr/>
        </p:nvSpPr>
        <p:spPr>
          <a:xfrm>
            <a:off x="2489149" y="1645920"/>
            <a:ext cx="1721053" cy="91440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crawl4ai
renders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9149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Playwright renders
JavaScript pages</a:t>
            </a:r>
          </a:p>
        </p:txBody>
      </p:sp>
      <p:sp>
        <p:nvSpPr>
          <p:cNvPr id="11" name="Pentagon 10"/>
          <p:cNvSpPr/>
          <p:nvPr/>
        </p:nvSpPr>
        <p:spPr>
          <a:xfrm>
            <a:off x="4319930" y="1645920"/>
            <a:ext cx="1721053" cy="91440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Schema
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9930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Cached → LLM →
heuristics</a:t>
            </a:r>
          </a:p>
        </p:txBody>
      </p:sp>
      <p:sp>
        <p:nvSpPr>
          <p:cNvPr id="13" name="Pentagon 12"/>
          <p:cNvSpPr/>
          <p:nvPr/>
        </p:nvSpPr>
        <p:spPr>
          <a:xfrm>
            <a:off x="6150711" y="1645920"/>
            <a:ext cx="1721053" cy="91440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Extract rows
+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0711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Title, link, date,
then detail body</a:t>
            </a:r>
          </a:p>
        </p:txBody>
      </p:sp>
      <p:sp>
        <p:nvSpPr>
          <p:cNvPr id="15" name="Pentagon 14"/>
          <p:cNvSpPr/>
          <p:nvPr/>
        </p:nvSpPr>
        <p:spPr>
          <a:xfrm>
            <a:off x="7981492" y="1645920"/>
            <a:ext cx="1721053" cy="91440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Dedupe &amp;
upsert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1492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Prisma writes to
PostgreSQL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12273" y="1645920"/>
            <a:ext cx="1721053" cy="91440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Notice
published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2273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Indexed, alerted,
searchable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94760"/>
            <a:ext cx="59436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i="0">
                <a:solidFill>
                  <a:srgbClr val="0C2D48"/>
                </a:solidFill>
                <a:latin typeface="Times New Roman"/>
              </a:rPr>
              <a:t>Three-tier schema detection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0C2D48"/>
                </a:solidFill>
                <a:latin typeface="Times New Roman"/>
              </a:rPr>
              <a:t>1. Cached schema (free) —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reuse the CSS schema stored on the source from the last successful run. This is the path almost every run takes.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0C2D48"/>
                </a:solidFill>
                <a:latin typeface="Times New Roman"/>
              </a:rPr>
              <a:t>2. LLM-assisted (paid once) —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only when no schema is cached or the cached one returns zero rows; Groq reads the page once and proposes a schema.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 i="0">
                <a:solidFill>
                  <a:srgbClr val="0C2D48"/>
                </a:solidFill>
                <a:latin typeface="Times New Roman"/>
              </a:rPr>
              <a:t>3. Structural heuristics (free) —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group sibling DOM elements by tag and class, score by repetition and list-like naming, penalise navigation and footers.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3794760"/>
            <a:ext cx="4480560" cy="2194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3794760"/>
            <a:ext cx="38100" cy="219456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2048" y="3941064"/>
            <a:ext cx="407822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>
                <a:solidFill>
                  <a:srgbClr val="0C2D48"/>
                </a:solidFill>
                <a:latin typeface="Times New Roman"/>
              </a:rPr>
              <a:t>Why this design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sz="1500" b="1" i="0">
              <a:solidFill>
                <a:srgbClr val="0C2D48"/>
              </a:solidFill>
              <a:latin typeface="Times New Roman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Detection cost is paid at most once per source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per site redesign — never on a scheduled run.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sz="1250" b="0" i="0">
              <a:solidFill>
                <a:srgbClr val="1A1A1A"/>
              </a:solidFill>
              <a:latin typeface="Times New Roman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Detail pages are handled generically: chrome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(nav, header, footer, script) is stripped and the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densest text block is kept, so no body selector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has to be written for any site.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Pipeline II — Document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From an uploaded file to searchable vectors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13</a:t>
            </a:r>
          </a:p>
        </p:txBody>
      </p:sp>
      <p:sp>
        <p:nvSpPr>
          <p:cNvPr id="7" name="Pentagon 6"/>
          <p:cNvSpPr/>
          <p:nvPr/>
        </p:nvSpPr>
        <p:spPr>
          <a:xfrm>
            <a:off x="658368" y="1645920"/>
            <a:ext cx="1721053" cy="914400"/>
          </a:xfrm>
          <a:prstGeom prst="homePlate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Upload
(NestJS)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Validated, stored,
status tracked</a:t>
            </a:r>
          </a:p>
        </p:txBody>
      </p:sp>
      <p:sp>
        <p:nvSpPr>
          <p:cNvPr id="9" name="Pentagon 8"/>
          <p:cNvSpPr/>
          <p:nvPr/>
        </p:nvSpPr>
        <p:spPr>
          <a:xfrm>
            <a:off x="2489149" y="1645920"/>
            <a:ext cx="1721053" cy="91440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Extract text
/ OCR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9149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pypdf, then Tesseract
nep+eng fallback</a:t>
            </a:r>
          </a:p>
        </p:txBody>
      </p:sp>
      <p:sp>
        <p:nvSpPr>
          <p:cNvPr id="11" name="Pentagon 10"/>
          <p:cNvSpPr/>
          <p:nvPr/>
        </p:nvSpPr>
        <p:spPr>
          <a:xfrm>
            <a:off x="4319930" y="1645920"/>
            <a:ext cx="1721053" cy="91440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Structure-aware
chunking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9930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800 chars, 120
overlap</a:t>
            </a:r>
          </a:p>
        </p:txBody>
      </p:sp>
      <p:sp>
        <p:nvSpPr>
          <p:cNvPr id="13" name="Pentagon 12"/>
          <p:cNvSpPr/>
          <p:nvPr/>
        </p:nvSpPr>
        <p:spPr>
          <a:xfrm>
            <a:off x="6150711" y="1645920"/>
            <a:ext cx="1721053" cy="91440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Batched
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0711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e5-base, 768-dim,
passage: prefix</a:t>
            </a:r>
          </a:p>
        </p:txBody>
      </p:sp>
      <p:sp>
        <p:nvSpPr>
          <p:cNvPr id="15" name="Pentagon 14"/>
          <p:cNvSpPr/>
          <p:nvPr/>
        </p:nvSpPr>
        <p:spPr>
          <a:xfrm>
            <a:off x="7981492" y="1645920"/>
            <a:ext cx="1721053" cy="91440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Index into
Qdrant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1492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Dense + BM25
sparse vectors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12273" y="1645920"/>
            <a:ext cx="1721053" cy="91440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Ready to
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2273" y="2633472"/>
            <a:ext cx="172105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Live progress shown
in the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94760"/>
            <a:ext cx="59436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i="0" dirty="0">
                <a:solidFill>
                  <a:srgbClr val="0C2D48"/>
                </a:solidFill>
                <a:latin typeface="Times New Roman"/>
              </a:rPr>
              <a:t>Chunking that respects structure</a:t>
            </a:r>
          </a:p>
          <a:p>
            <a:pPr>
              <a:lnSpc>
                <a:spcPct val="128000"/>
              </a:lnSpc>
              <a:spcAft>
                <a:spcPts val="800"/>
              </a:spcAft>
            </a:pPr>
            <a:r>
              <a:rPr sz="1300" b="0" i="0" dirty="0">
                <a:solidFill>
                  <a:srgbClr val="1A1A1A"/>
                </a:solidFill>
                <a:latin typeface="Times New Roman"/>
              </a:rPr>
              <a:t>Text is split on blank lines into paragraphs; paragraphs longer than the chunk size are split on sentence ends — including the Devanagari </a:t>
            </a:r>
            <a:r>
              <a:rPr sz="1300" b="0" i="0" dirty="0" err="1">
                <a:solidFill>
                  <a:srgbClr val="1A1A1A"/>
                </a:solidFill>
                <a:latin typeface="Times New Roman"/>
              </a:rPr>
              <a:t>danda</a:t>
            </a:r>
            <a:r>
              <a:rPr sz="1300" b="0" i="0" dirty="0">
                <a:solidFill>
                  <a:srgbClr val="1A1A1A"/>
                </a:solidFill>
                <a:latin typeface="Times New Roman"/>
              </a:rPr>
              <a:t> (।) — and only then on word boundaries. Segments are greedily packed, and each chunk begins with the tail of the previous one so a fact spanning a boundary still appears whole in at least one chunk.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300" b="0" i="1" dirty="0">
                <a:solidFill>
                  <a:srgbClr val="5A636E"/>
                </a:solidFill>
                <a:latin typeface="Times New Roman"/>
              </a:rPr>
              <a:t>The overlap is snapped to a word boundary, so no chunk starts mid-word — this measurably improved both retrieval quality and displayed text.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3794760"/>
            <a:ext cx="4480560" cy="2194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3794760"/>
            <a:ext cx="38100" cy="219456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2048" y="3941064"/>
            <a:ext cx="4078224" cy="19098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 i="0" dirty="0">
                <a:solidFill>
                  <a:srgbClr val="0C2D48"/>
                </a:solidFill>
                <a:latin typeface="Times New Roman"/>
              </a:rPr>
              <a:t>Lifecycle and operations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• Ingestion runs asynchronously; the UI polls a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  progress endpoint for per-stage percentages.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• Documents can be embedded and un-embedded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  without deleting the underlying file.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• Metadata (status, owner, timestamps) lives in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0" i="0" dirty="0">
                <a:solidFill>
                  <a:srgbClr val="1A1A1A"/>
                </a:solidFill>
                <a:latin typeface="Times New Roman"/>
              </a:rPr>
              <a:t>  PostgreSQL; only vectors live in </a:t>
            </a:r>
            <a:r>
              <a:rPr sz="1250" b="0" i="0" dirty="0" err="1">
                <a:solidFill>
                  <a:srgbClr val="1A1A1A"/>
                </a:solidFill>
                <a:latin typeface="Times New Roman"/>
              </a:rPr>
              <a:t>Qdrant</a:t>
            </a:r>
            <a:r>
              <a:rPr sz="1250" b="0" i="0" dirty="0">
                <a:solidFill>
                  <a:srgbClr val="1A1A1A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Pipeline III — Retrieval and Alerting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Grounded answers, and notices that find the citizen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0C2D48"/>
                </a:solidFill>
                <a:latin typeface="Times New Roman"/>
              </a:rPr>
              <a:t>RAG query pipeline</a:t>
            </a:r>
          </a:p>
        </p:txBody>
      </p:sp>
      <p:sp>
        <p:nvSpPr>
          <p:cNvPr id="8" name="Pentagon 7"/>
          <p:cNvSpPr/>
          <p:nvPr/>
        </p:nvSpPr>
        <p:spPr>
          <a:xfrm>
            <a:off x="658368" y="2011680"/>
            <a:ext cx="1380744" cy="777240"/>
          </a:xfrm>
          <a:prstGeom prst="homePlate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Intent
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62072"/>
            <a:ext cx="13807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Small talk never
touches Qdrant</a:t>
            </a:r>
          </a:p>
        </p:txBody>
      </p:sp>
      <p:sp>
        <p:nvSpPr>
          <p:cNvPr id="10" name="Pentagon 9"/>
          <p:cNvSpPr/>
          <p:nvPr/>
        </p:nvSpPr>
        <p:spPr>
          <a:xfrm>
            <a:off x="2148840" y="2011680"/>
            <a:ext cx="1380744" cy="77724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Hybrid
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862072"/>
            <a:ext cx="13807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Dense + BM25
run together</a:t>
            </a:r>
          </a:p>
        </p:txBody>
      </p:sp>
      <p:sp>
        <p:nvSpPr>
          <p:cNvPr id="12" name="Pentagon 11"/>
          <p:cNvSpPr/>
          <p:nvPr/>
        </p:nvSpPr>
        <p:spPr>
          <a:xfrm>
            <a:off x="3639312" y="2011680"/>
            <a:ext cx="1380744" cy="77724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RRF +
rescore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862072"/>
            <a:ext cx="13807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Cosine re-score,
threshold, dedupe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9784" y="2011680"/>
            <a:ext cx="1380744" cy="77724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Groq
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862072"/>
            <a:ext cx="13807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Cited markdown,
context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703320"/>
            <a:ext cx="58521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250" b="1" i="0">
                <a:solidFill>
                  <a:srgbClr val="1A1A1A"/>
                </a:solidFill>
                <a:latin typeface="Times New Roman"/>
              </a:rPr>
              <a:t>Hybrid retrieval. </a:t>
            </a:r>
            <a:r>
              <a:rPr sz="1250" b="0" i="0">
                <a:solidFill>
                  <a:srgbClr val="1A1A1A"/>
                </a:solidFill>
                <a:latin typeface="Times New Roman"/>
              </a:rPr>
              <a:t>Dense embeddings capture meaning; BM25 catches exact identifiers such as notice numbers and dates. Qdrant fuses both rankings with Reciprocal Rank Fusion.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250" b="1" i="0">
                <a:solidFill>
                  <a:srgbClr val="1A1A1A"/>
                </a:solidFill>
                <a:latin typeface="Times New Roman"/>
              </a:rPr>
              <a:t>Cosine re-scoring. </a:t>
            </a:r>
            <a:r>
              <a:rPr sz="1250" b="0" i="0">
                <a:solidFill>
                  <a:srgbClr val="1A1A1A"/>
                </a:solidFill>
                <a:latin typeface="Times New Roman"/>
              </a:rPr>
              <a:t>Fused ranks are not similarities, so each hit is re-scored against the query vector — restoring a meaningful threshold and the relevance percentage shown to the user.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250" b="1" i="0">
                <a:solidFill>
                  <a:srgbClr val="1A1A1A"/>
                </a:solidFill>
                <a:latin typeface="Times New Roman"/>
              </a:rPr>
              <a:t>Grounding. </a:t>
            </a:r>
            <a:r>
              <a:rPr sz="1250" b="0" i="0">
                <a:solidFill>
                  <a:srgbClr val="1A1A1A"/>
                </a:solidFill>
                <a:latin typeface="Times New Roman"/>
              </a:rPr>
              <a:t>The model answers only from retrieved context; when the corpus does not contain the answer it says so, and degrades to an extractive answer if no API key is configured.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1572768"/>
            <a:ext cx="12700" cy="416052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157276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0C2D48"/>
                </a:solidFill>
                <a:latin typeface="Times New Roman"/>
              </a:rPr>
              <a:t>Alert pipeline</a:t>
            </a:r>
          </a:p>
        </p:txBody>
      </p:sp>
      <p:sp>
        <p:nvSpPr>
          <p:cNvPr id="19" name="Pentagon 18"/>
          <p:cNvSpPr/>
          <p:nvPr/>
        </p:nvSpPr>
        <p:spPr>
          <a:xfrm>
            <a:off x="7086600" y="2011680"/>
            <a:ext cx="1026414" cy="777240"/>
          </a:xfrm>
          <a:prstGeom prst="homePlate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New
notice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862072"/>
            <a:ext cx="102641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Scraped or
created</a:t>
            </a:r>
          </a:p>
        </p:txBody>
      </p:sp>
      <p:sp>
        <p:nvSpPr>
          <p:cNvPr id="21" name="Pentagon 20"/>
          <p:cNvSpPr/>
          <p:nvPr/>
        </p:nvSpPr>
        <p:spPr>
          <a:xfrm>
            <a:off x="8222742" y="2011680"/>
            <a:ext cx="1026414" cy="77724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Match
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2742" y="2862072"/>
            <a:ext cx="102641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Keyword,
category, org</a:t>
            </a:r>
          </a:p>
        </p:txBody>
      </p:sp>
      <p:sp>
        <p:nvSpPr>
          <p:cNvPr id="23" name="Pentagon 22"/>
          <p:cNvSpPr/>
          <p:nvPr/>
        </p:nvSpPr>
        <p:spPr>
          <a:xfrm>
            <a:off x="9358884" y="2011680"/>
            <a:ext cx="1026414" cy="777240"/>
          </a:xfrm>
          <a:prstGeom prst="homePlate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Fan-out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8884" y="2862072"/>
            <a:ext cx="102641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Per-user rules,
quota checked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95026" y="2011680"/>
            <a:ext cx="1026414" cy="77724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Deliver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95026" y="2862072"/>
            <a:ext cx="102641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A636E"/>
                </a:solidFill>
                <a:latin typeface="Times New Roman"/>
              </a:rPr>
              <a:t>Email and
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703320"/>
            <a:ext cx="44805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250" b="1" i="0">
                <a:solidFill>
                  <a:srgbClr val="1A1A1A"/>
                </a:solidFill>
                <a:latin typeface="Times New Roman"/>
              </a:rPr>
              <a:t>Matching. </a:t>
            </a:r>
            <a:r>
              <a:rPr sz="1250" b="0" i="0">
                <a:solidFill>
                  <a:srgbClr val="1A1A1A"/>
                </a:solidFill>
                <a:latin typeface="Times New Roman"/>
              </a:rPr>
              <a:t>Every newly published notice is evaluated against all enabled alert rules; matches update the rule's counter and last-matched timestamp.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250" b="1" i="0">
                <a:solidFill>
                  <a:srgbClr val="1A1A1A"/>
                </a:solidFill>
                <a:latin typeface="Times New Roman"/>
              </a:rPr>
              <a:t>Channels. </a:t>
            </a:r>
            <a:r>
              <a:rPr sz="1250" b="0" i="0">
                <a:solidFill>
                  <a:srgbClr val="1A1A1A"/>
                </a:solidFill>
                <a:latin typeface="Times New Roman"/>
              </a:rPr>
              <a:t>Email is delivered over SMTP; WhatsApp through a self-hosted Evolution API instance, with delivery status recorded per notification.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0C5CAB"/>
                </a:solidFill>
                <a:latin typeface="Times New Roman"/>
              </a:rPr>
              <a:t>▪  </a:t>
            </a:r>
            <a:r>
              <a:rPr sz="1250" b="1" i="0">
                <a:solidFill>
                  <a:srgbClr val="1A1A1A"/>
                </a:solidFill>
                <a:latin typeface="Times New Roman"/>
              </a:rPr>
              <a:t>Digests. </a:t>
            </a:r>
            <a:r>
              <a:rPr sz="1250" b="0" i="0">
                <a:solidFill>
                  <a:srgbClr val="1A1A1A"/>
                </a:solidFill>
                <a:latin typeface="Times New Roman"/>
              </a:rPr>
              <a:t>A scheduled digest service batches matches for users who prefer a summary over immediate messages.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User Interface — Public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Landing page and the notice browser, open to every visitor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9</a:t>
            </a:r>
          </a:p>
        </p:txBody>
      </p:sp>
      <p:pic>
        <p:nvPicPr>
          <p:cNvPr id="7" name="Picture 6" descr="01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62" y="1691640"/>
            <a:ext cx="5163670" cy="3200400"/>
          </a:xfrm>
          <a:prstGeom prst="rect">
            <a:avLst/>
          </a:prstGeom>
          <a:ln w="9525">
            <a:solidFill>
              <a:srgbClr val="D4D9DF"/>
            </a:solidFill>
          </a:ln>
        </p:spPr>
      </p:pic>
      <p:pic>
        <p:nvPicPr>
          <p:cNvPr id="8" name="Picture 7" descr="03_not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762" y="1691640"/>
            <a:ext cx="5163670" cy="3200400"/>
          </a:xfrm>
          <a:prstGeom prst="rect">
            <a:avLst/>
          </a:prstGeom>
          <a:ln w="9525">
            <a:solidFill>
              <a:srgbClr val="D4D9D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8368" y="5074920"/>
            <a:ext cx="527745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0C2D48"/>
                </a:solidFill>
                <a:latin typeface="Times New Roman"/>
              </a:rPr>
              <a:t>Landing page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5A636E"/>
                </a:solidFill>
                <a:latin typeface="Times New Roman"/>
              </a:rPr>
              <a:t>Value proposition, live notice counts and a direct entry point to search. Language toggle and theme switch are available before sign-in.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5867" y="5074920"/>
            <a:ext cx="527745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0C2D48"/>
                </a:solidFill>
                <a:latin typeface="Times New Roman"/>
              </a:rPr>
              <a:t>Notice browser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5A636E"/>
                </a:solidFill>
                <a:latin typeface="Times New Roman"/>
              </a:rPr>
              <a:t>Full-text search with category, organisation, source and date filters; priority badges and deadline indicators on every card.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 dirty="0">
                <a:solidFill>
                  <a:srgbClr val="0C2D48"/>
                </a:solidFill>
                <a:latin typeface="Times New Roman"/>
              </a:rP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Everything a signed-in citizen keeps track of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10</a:t>
            </a:r>
          </a:p>
        </p:txBody>
      </p:sp>
      <p:pic>
        <p:nvPicPr>
          <p:cNvPr id="7" name="Picture 6" descr="04_us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54" y="1645920"/>
            <a:ext cx="5900467" cy="3657600"/>
          </a:xfrm>
          <a:prstGeom prst="rect">
            <a:avLst/>
          </a:prstGeom>
          <a:ln w="9525">
            <a:solidFill>
              <a:srgbClr val="D4D9D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18120" y="1737360"/>
            <a:ext cx="3749039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 i="0">
                <a:solidFill>
                  <a:srgbClr val="0C2D48"/>
                </a:solidFill>
                <a:latin typeface="Times New Roman"/>
              </a:rPr>
              <a:t>Overview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5A636E"/>
                </a:solidFill>
                <a:latin typeface="Times New Roman"/>
              </a:rPr>
              <a:t>Saved notices, active alert rules, recent matches and remaining plan quota at a glance.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50" b="1" i="0">
                <a:solidFill>
                  <a:srgbClr val="0C2D48"/>
                </a:solidFill>
                <a:latin typeface="Times New Roman"/>
              </a:rPr>
              <a:t>Saved notices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5A636E"/>
                </a:solidFill>
                <a:latin typeface="Times New Roman"/>
              </a:rPr>
              <a:t>One-click bookmarking from any notice card, with the original source link preserved.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50" b="1" i="0">
                <a:solidFill>
                  <a:srgbClr val="0C2D48"/>
                </a:solidFill>
                <a:latin typeface="Times New Roman"/>
              </a:rPr>
              <a:t>My alerts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5A636E"/>
                </a:solidFill>
                <a:latin typeface="Times New Roman"/>
              </a:rPr>
              <a:t>Create keyword, category or organisation rules, enable or disable them, and see match counts.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50" b="1" i="0">
                <a:solidFill>
                  <a:srgbClr val="0C2D48"/>
                </a:solidFill>
                <a:latin typeface="Times New Roman"/>
              </a:rPr>
              <a:t>Activity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5A636E"/>
                </a:solidFill>
                <a:latin typeface="Times New Roman"/>
              </a:rPr>
              <a:t>A chronological log of searches, saves, alert matches and AI queries.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50" b="1" i="0">
                <a:solidFill>
                  <a:srgbClr val="0C2D48"/>
                </a:solidFill>
                <a:latin typeface="Times New Roman"/>
              </a:rPr>
              <a:t>Settings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5A636E"/>
                </a:solidFill>
                <a:latin typeface="Times New Roman"/>
              </a:rPr>
              <a:t>Profile, notification channels (email and WhatsApp), language and theme.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39496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A636E"/>
                </a:solidFill>
                <a:latin typeface="Times New Roman"/>
              </a:rPr>
              <a:t>Figure 3 — Dashboard overview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User Interface —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5A636E"/>
                </a:solidFill>
                <a:latin typeface="Times New Roman"/>
              </a:rPr>
              <a:t>Source configuration, live scrape monitoring and platform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11</a:t>
            </a:r>
          </a:p>
        </p:txBody>
      </p:sp>
      <p:pic>
        <p:nvPicPr>
          <p:cNvPr id="7" name="Picture 6" descr="07_admin_scra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54" y="1645920"/>
            <a:ext cx="4867886" cy="3017520"/>
          </a:xfrm>
          <a:prstGeom prst="rect">
            <a:avLst/>
          </a:prstGeom>
          <a:ln w="9525">
            <a:solidFill>
              <a:srgbClr val="D4D9DF"/>
            </a:solidFill>
          </a:ln>
        </p:spPr>
      </p:pic>
      <p:pic>
        <p:nvPicPr>
          <p:cNvPr id="8" name="Picture 7" descr="10_admi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654" y="1645920"/>
            <a:ext cx="4867886" cy="3017520"/>
          </a:xfrm>
          <a:prstGeom prst="rect">
            <a:avLst/>
          </a:prstGeom>
          <a:ln w="9525">
            <a:solidFill>
              <a:srgbClr val="D4D9D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8368" y="4892040"/>
            <a:ext cx="527745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0C2D48"/>
                </a:solidFill>
                <a:latin typeface="Times New Roman"/>
              </a:rPr>
              <a:t>Scraping console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5A636E"/>
                </a:solidFill>
                <a:latin typeface="Times New Roman"/>
              </a:rPr>
              <a:t>Add or edit a source, trigger a run on demand, and follow live status messages such as “Crawling Notice listing, page 2…” instead of an opaque spinner.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5867" y="4892040"/>
            <a:ext cx="527745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0C2D48"/>
                </a:solidFill>
                <a:latin typeface="Times New Roman"/>
              </a:rPr>
              <a:t>User and plan management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5A636E"/>
                </a:solidFill>
                <a:latin typeface="Times New Roman"/>
              </a:rPr>
              <a:t>Role assignment, account status, subscription plans and per-user quota usage; further screens cover notices, categories, alert channels and system settings.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0C2D48"/>
                </a:solidFill>
                <a:latin typeface="Times New Roman"/>
              </a:rPr>
              <a:t>Deployment, Status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1371600" cy="31750"/>
          </a:xfrm>
          <a:prstGeom prst="rect">
            <a:avLst/>
          </a:prstGeom>
          <a:solidFill>
            <a:srgbClr val="0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1032631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Suchana AI  ·  Public Notice Management System  ·  Ashok Bhattarai (NP069811)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687" y="6400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5A636E"/>
                </a:solidFill>
                <a:latin typeface="Times New Roman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5806440" cy="36576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618488"/>
            <a:ext cx="401029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7265" y="1618488"/>
            <a:ext cx="152182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84248"/>
            <a:ext cx="401029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Public site and notice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7265" y="1984248"/>
            <a:ext cx="152182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04288"/>
            <a:ext cx="5806440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2304288"/>
            <a:ext cx="580644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350008"/>
            <a:ext cx="401029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Authentication and RBAC (JWT)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7265" y="2350008"/>
            <a:ext cx="152182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670048"/>
            <a:ext cx="5806440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715768"/>
            <a:ext cx="401029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Citizen dashboard and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7265" y="2715768"/>
            <a:ext cx="152182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35808"/>
            <a:ext cx="5806440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035808"/>
            <a:ext cx="580644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3081528"/>
            <a:ext cx="401029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Admin panel and scraping console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7265" y="3081528"/>
            <a:ext cx="152182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01568"/>
            <a:ext cx="5806440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447288"/>
            <a:ext cx="401029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Scraping pipeline (crawl4ai)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7265" y="3447288"/>
            <a:ext cx="152182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Complete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767328"/>
            <a:ext cx="5806440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3767328"/>
            <a:ext cx="580644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3813048"/>
            <a:ext cx="401029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RAG ingestion and 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7265" y="3813048"/>
            <a:ext cx="152182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Complete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33088"/>
            <a:ext cx="5806440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4178808"/>
            <a:ext cx="401029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Plans, quotas and 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7265" y="4178808"/>
            <a:ext cx="152182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498848"/>
            <a:ext cx="5806440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4498848"/>
            <a:ext cx="580644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749808" y="4544568"/>
            <a:ext cx="401029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 dirty="0">
                <a:solidFill>
                  <a:srgbClr val="1A1A1A"/>
                </a:solidFill>
                <a:latin typeface="Times New Roman"/>
              </a:rPr>
              <a:t>Cloud deployment and hardening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7265" y="4544568"/>
            <a:ext cx="1521822" cy="2179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250" b="0" i="0" dirty="0">
                <a:solidFill>
                  <a:srgbClr val="1A1A1A"/>
                </a:solidFill>
                <a:latin typeface="Times New Roman"/>
              </a:rPr>
              <a:t>Complete</a:t>
            </a:r>
            <a:endParaRPr sz="1250" b="0" i="0" dirty="0">
              <a:solidFill>
                <a:srgbClr val="1A1A1A"/>
              </a:solidFill>
              <a:latin typeface="Times New Roman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58368" y="4864608"/>
            <a:ext cx="5806440" cy="6350"/>
          </a:xfrm>
          <a:prstGeom prst="rect">
            <a:avLst/>
          </a:prstGeom>
          <a:solidFill>
            <a:srgbClr val="D4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5532120"/>
            <a:ext cx="58064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0C2D48"/>
                </a:solidFill>
                <a:latin typeface="Times New Roman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2284</Words>
  <Application>Microsoft Macintosh PowerPoint</Application>
  <PresentationFormat>Widescreen</PresentationFormat>
  <Paragraphs>294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Ashok Bhattarai(2309561036)</cp:lastModifiedBy>
  <cp:revision>9</cp:revision>
  <dcterms:created xsi:type="dcterms:W3CDTF">2013-01-27T09:14:16Z</dcterms:created>
  <dcterms:modified xsi:type="dcterms:W3CDTF">2026-08-30T02:26:02Z</dcterms:modified>
  <cp:category/>
</cp:coreProperties>
</file>