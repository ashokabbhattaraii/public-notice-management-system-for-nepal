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80760"/>
            <a:ext cx="12191695" cy="777240"/>
          </a:xfrm>
          <a:prstGeom prst="rect">
            <a:avLst/>
          </a:prstGeom>
          <a:solidFill>
            <a:srgbClr val="08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1737360" cy="3810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CC3E8"/>
                </a:solidFill>
                <a:latin typeface="Times New Roman"/>
              </a:rPr>
              <a:t>FINAL YEAR PROJECT  ·  SYSTEM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4028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Times New Roman"/>
              </a:rPr>
              <a:t>Suchana AI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300" b="0" i="0">
                <a:solidFill>
                  <a:srgbClr val="D8E4EF"/>
                </a:solidFill>
                <a:latin typeface="Times New Roman"/>
              </a:rPr>
              <a:t>An AI-Powered Cloud-Based Public Notice Management System for Nepal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091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 i="0">
                <a:solidFill>
                  <a:srgbClr val="C9D8E6"/>
                </a:solidFill>
                <a:latin typeface="Times New Roman"/>
              </a:rPr>
              <a:t>Presented by:  </a:t>
            </a:r>
            <a:r>
              <a:rPr sz="1500" b="0" i="0">
                <a:solidFill>
                  <a:srgbClr val="C9D8E6"/>
                </a:solidFill>
                <a:latin typeface="Times New Roman"/>
              </a:rPr>
              <a:t>Ashok Bhattarai  (NP069811)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9CC3E8"/>
                </a:solidFill>
                <a:latin typeface="Times New Roman"/>
              </a:rPr>
              <a:t>Next.js 16  ·  NestJS 11  ·  Python ASGI  ·  PostgreSQL  ·  Qdrant  ·  crawl4ai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29107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FA9C0"/>
                </a:solidFill>
                <a:latin typeface="Times New Roman"/>
              </a:rPr>
              <a:t>Introduction  ·  Architecture  ·  Flows  ·  User Interface  · 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Why public notices in Nepal are hard to find and easy to miss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02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500" b="1" i="0">
                <a:solidFill>
                  <a:srgbClr val="1A1A1A"/>
                </a:solidFill>
                <a:latin typeface="Times New Roman"/>
              </a:rPr>
              <a:t>Fragmented sources. 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Every ministry, commission and public body publishes to its own website; there is no single national index.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500" b="1" i="0">
                <a:solidFill>
                  <a:srgbClr val="1A1A1A"/>
                </a:solidFill>
                <a:latin typeface="Times New Roman"/>
              </a:rPr>
              <a:t>Unstructured formats. 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Most notices are scanned PDFs or images — invisible to ordinary text search engines.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500" b="1" i="0">
                <a:solidFill>
                  <a:srgbClr val="1A1A1A"/>
                </a:solidFill>
                <a:latin typeface="Times New Roman"/>
              </a:rPr>
              <a:t>Deadline-driven loss. 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Vacancies, tenders and exam notices carry short windows; citizens miss them simply by not checking daily.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500" b="1" i="0">
                <a:solidFill>
                  <a:srgbClr val="1A1A1A"/>
                </a:solidFill>
                <a:latin typeface="Times New Roman"/>
              </a:rPr>
              <a:t>Language barrier. 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Content is mixed Nepali and English, and existing search does not handle Devanagari well.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500" b="1" i="0">
                <a:solidFill>
                  <a:srgbClr val="1A1A1A"/>
                </a:solidFill>
                <a:latin typeface="Times New Roman"/>
              </a:rPr>
              <a:t>No push channel. </a:t>
            </a:r>
            <a:r>
              <a:rPr sz="1500" b="0" i="0">
                <a:solidFill>
                  <a:srgbClr val="1A1A1A"/>
                </a:solidFill>
                <a:latin typeface="Times New Roman"/>
              </a:rPr>
              <a:t>Nothing notifies a citizen when a notice relevant to them appears.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0920" y="1691640"/>
            <a:ext cx="4160520" cy="397763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60920" y="1691640"/>
            <a:ext cx="38100" cy="397763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2088" y="1837944"/>
            <a:ext cx="3758184" cy="3977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Consequence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 citizen must manually visit dozens of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government portals, read scanned documents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one by one, and repeat this every single day —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with no guarantee of completeness.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Suchana AI replaces that manual routine with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automated aggregation, machine-readable text,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semantic search and personalised alerts.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Aim, Objectives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42415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Times New Roman"/>
              </a:rPr>
              <a:t>Aim:  </a:t>
            </a:r>
            <a:r>
              <a:rPr sz="1550" b="0" i="0">
                <a:solidFill>
                  <a:srgbClr val="1A1A1A"/>
                </a:solidFill>
                <a:latin typeface="Times New Roman"/>
              </a:rPr>
              <a:t>to design and build a cloud-based platform that automatically aggregates public notices from Nepali government sources, makes them searchable in natural language, and delivers relevant notices to citizens through personalised alerts.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14600"/>
            <a:ext cx="3611880" cy="3246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514600"/>
            <a:ext cx="38100" cy="324612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660904"/>
            <a:ext cx="3209544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Aggregate notices from any public source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without writing per-site code.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Extract text from scanned documents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using bilingual OCR (Nepali + English).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Answer natural-language questions with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citations from the notice corpus.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Deliver keyword and category alerts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over email and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0288" y="2514600"/>
            <a:ext cx="3611880" cy="3246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0288" y="2514600"/>
            <a:ext cx="38100" cy="324612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91456" y="2660904"/>
            <a:ext cx="3209544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In Scope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Public browsing, search and filtering.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Authenticated user dashboard: saved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notices, alert rules, activity.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Admin panel: sources, scrape runs,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notices, users, plans, settings.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RAG document upload and chat.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Subscription plans and usage quotas.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22208" y="2514600"/>
            <a:ext cx="3611880" cy="3246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2208" y="2514600"/>
            <a:ext cx="38100" cy="324612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660904"/>
            <a:ext cx="3209544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Out of Scope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Native mobile applications.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Legally authoritative republication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of government documents.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Automatic translation between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Nepali and English notice text.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Real-time (sub-minute) scraping of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every configured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The System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Five capabilities delivered by three cooperating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37944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01.  Automated Aggregation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Admin adds a source URL; the crawler detects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the page structure itself and keeps scraping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on a schedule — no per-site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0288" y="1691640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0288" y="1691640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91456" y="1837944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02.  Bilingual OCR 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Scanned PDFs and images are converted to text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with Tesseract (nep + eng), making image-only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notices fully searchable.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22208" y="1691640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2208" y="1691640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1837944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03.  RAG Question Answering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Ask a question in plain Nepali or English;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answers are generated only from retrieved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notice text, with source citations.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58767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858767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1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04.  Personalised Alerts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Keyword, category and organisation rules are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matched against every new notice and pushed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by email and WhatsApp.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0288" y="3858767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0288" y="3858767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4005071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05.  Role-Based Administration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Separate guest, user and admin surfaces;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admins manage sources, notices, users,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plans and system settings.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22208" y="3858767"/>
            <a:ext cx="361188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22208" y="3858767"/>
            <a:ext cx="38100" cy="1874519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4005071"/>
            <a:ext cx="3209544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06.  Multilingual Interface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The entire interface switches between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English and नेपाली instantly, with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locale-aware 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Chosen for a single-developer build with production-grade behaviour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00200"/>
            <a:ext cx="10874959" cy="384048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3833" y="1645920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624" y="1645920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Why this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3833" y="2029968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Next.js 16 · React 19 · Tailwind v4 · shadcn/ui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624" y="2029968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App Router streaming, one language across the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368296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368296"/>
            <a:ext cx="10874959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414016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3833" y="2414016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NestJS 11 · Prisma 6 · 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624" y="2414016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Modular DI structure, typed schema and migrations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752344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798064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AI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3833" y="2798064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Python raw ASGI on Uvicorn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9624" y="2798064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Only seven routes — no framework overhead needed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136392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136392"/>
            <a:ext cx="10874959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182112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Vector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03833" y="3182112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Qdrant (dense + BM25 sparse)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9624" y="3182112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Payload filtering and native hybrid fusion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520440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566160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03833" y="3566160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intfloat/multilingual-e5-base (768-dim)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9624" y="3566160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Nepali and English share one vector space, free and CPU-friendly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904488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904488"/>
            <a:ext cx="10874959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3950208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Generation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3833" y="3950208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Groq — llama-3.3-70b-versatile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9624" y="3950208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Very fast inference, OpenAI-compatible, generous free tier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4288536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Crawling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3833" y="4334256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crawl4ai (Playwright-backed, async)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624" y="4334256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Renders JavaScript pages; declarative CSS-to-JSON extraction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672584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672584"/>
            <a:ext cx="10874959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4718304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OCR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03833" y="4718304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Tesseract via pytesseract (nep + eng)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9624" y="4718304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Scanned government notices need a Nepali language pack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5056632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102352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Notifications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03833" y="5102352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SMTP email · Evolution API (WhatsApp)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9624" y="5102352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Reaches citizens on the channel they actually use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5440680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440680"/>
            <a:ext cx="10874959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8" y="5486400"/>
            <a:ext cx="161686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Tooling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03833" y="5486400"/>
            <a:ext cx="383863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Turborepo · pnpm workspaces · TypeScript 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9624" y="5486400"/>
            <a:ext cx="500798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One repository, cached builds, shared domain types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5824728"/>
            <a:ext cx="10874959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Three services, one system of record, clear ownership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6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710" y="1645920"/>
            <a:ext cx="10440275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160520"/>
            <a:ext cx="3611880" cy="1508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4160520"/>
            <a:ext cx="38100" cy="150876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320954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Web — apps/web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Rendering, routing, client state,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i18n, forms and validation.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Holds no business rules.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0288" y="4160520"/>
            <a:ext cx="3611880" cy="1508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0288" y="4160520"/>
            <a:ext cx="38100" cy="150876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91456" y="4306824"/>
            <a:ext cx="320954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API — apps/api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Trusted gateway. JWT auth, RBAC,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Prisma persistence, quotas,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scheduling, notifications.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4160520"/>
            <a:ext cx="3611880" cy="1508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2208" y="4160520"/>
            <a:ext cx="38100" cy="150876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376" y="4306824"/>
            <a:ext cx="320954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AI — apps/ai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Crawling, OCR, chunking,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embeddings, hybrid retrieval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and answer generation.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A636E"/>
                </a:solidFill>
                <a:latin typeface="Times New Roman"/>
              </a:rPr>
              <a:t>Figure 1 — High-level service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End-to-End Request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How a single user action travels through the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7</a:t>
            </a:r>
          </a:p>
        </p:txBody>
      </p:sp>
      <p:sp>
        <p:nvSpPr>
          <p:cNvPr id="7" name="Pentagon 6"/>
          <p:cNvSpPr/>
          <p:nvPr/>
        </p:nvSpPr>
        <p:spPr>
          <a:xfrm>
            <a:off x="658368" y="1691640"/>
            <a:ext cx="1721053" cy="960120"/>
          </a:xfrm>
          <a:prstGeom prst="homePlate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Browser
(Next.js)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User action on a
client component</a:t>
            </a:r>
          </a:p>
        </p:txBody>
      </p:sp>
      <p:sp>
        <p:nvSpPr>
          <p:cNvPr id="9" name="Pentagon 8"/>
          <p:cNvSpPr/>
          <p:nvPr/>
        </p:nvSpPr>
        <p:spPr>
          <a:xfrm>
            <a:off x="2489149" y="1691640"/>
            <a:ext cx="1721053" cy="96012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NestJS API
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9149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Validated DTO,
request ID attached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19930" y="1691640"/>
            <a:ext cx="1721053" cy="96012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Guards &amp;
Quota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930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JWT verified, role
and plan checked</a:t>
            </a:r>
          </a:p>
        </p:txBody>
      </p:sp>
      <p:sp>
        <p:nvSpPr>
          <p:cNvPr id="13" name="Pentagon 12"/>
          <p:cNvSpPr/>
          <p:nvPr/>
        </p:nvSpPr>
        <p:spPr>
          <a:xfrm>
            <a:off x="6150711" y="1691640"/>
            <a:ext cx="1721053" cy="96012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Prisma /
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0711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System of record
for all entities</a:t>
            </a:r>
          </a:p>
        </p:txBody>
      </p:sp>
      <p:sp>
        <p:nvSpPr>
          <p:cNvPr id="15" name="Pentagon 14"/>
          <p:cNvSpPr/>
          <p:nvPr/>
        </p:nvSpPr>
        <p:spPr>
          <a:xfrm>
            <a:off x="7981492" y="1691640"/>
            <a:ext cx="1721053" cy="96012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Python AI
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1492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Only for AI work:
crawl, embed, 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2273" y="1691640"/>
            <a:ext cx="1721053" cy="96012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Response
+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2273" y="272491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Typed JSON returned
to the 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1087495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Cross-cutting behaviour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50" b="1" i="0">
                <a:solidFill>
                  <a:srgbClr val="1A1A1A"/>
                </a:solidFill>
                <a:latin typeface="Times New Roman"/>
              </a:rPr>
              <a:t>Correlation IDs — </a:t>
            </a:r>
            <a:r>
              <a:rPr sz="1350" b="0" i="0">
                <a:solidFill>
                  <a:srgbClr val="1A1A1A"/>
                </a:solidFill>
                <a:latin typeface="Times New Roman"/>
              </a:rPr>
              <a:t>an x-request-id is generated by NestJS middleware, forwarded through the axios interceptor, and set on the AI service, so one identifier links the logs of all three services.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50" b="1" i="0">
                <a:solidFill>
                  <a:srgbClr val="1A1A1A"/>
                </a:solidFill>
                <a:latin typeface="Times New Roman"/>
              </a:rPr>
              <a:t>Structured logging — </a:t>
            </a:r>
            <a:r>
              <a:rPr sz="1350" b="0" i="0">
                <a:solidFill>
                  <a:srgbClr val="1A1A1A"/>
                </a:solidFill>
                <a:latin typeface="Times New Roman"/>
              </a:rPr>
              <a:t>all services emit JSON logs by default, with configurable level, format and slow-query thresholds.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50" b="1" i="0">
                <a:solidFill>
                  <a:srgbClr val="1A1A1A"/>
                </a:solidFill>
                <a:latin typeface="Times New Roman"/>
              </a:rPr>
              <a:t>Read-path caching — </a:t>
            </a:r>
            <a:r>
              <a:rPr sz="1350" b="0" i="0">
                <a:solidFill>
                  <a:srgbClr val="1A1A1A"/>
                </a:solidFill>
                <a:latin typeface="Times New Roman"/>
              </a:rPr>
              <a:t>the public notices list and category counts are served from an in-process TTL cache (10s and 60s), cutting repeated database work under load.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50" b="1" i="0">
                <a:solidFill>
                  <a:srgbClr val="1A1A1A"/>
                </a:solidFill>
                <a:latin typeface="Times New Roman"/>
              </a:rPr>
              <a:t>Connection tuning — </a:t>
            </a:r>
            <a:r>
              <a:rPr sz="1350" b="0" i="0">
                <a:solidFill>
                  <a:srgbClr val="1A1A1A"/>
                </a:solidFill>
                <a:latin typeface="Times New Roman"/>
              </a:rPr>
              <a:t>pool size, pool timeout and a forced UTC session are applied to the database URL at startup so timezone-aware queries never drift.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Domain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PostgreSQL is the single system of record; Qdrant stores only vectors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8</a:t>
            </a:r>
          </a:p>
        </p:txBody>
      </p:sp>
      <p:pic>
        <p:nvPicPr>
          <p:cNvPr id="7" name="Picture 6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192" y="1600200"/>
            <a:ext cx="5064031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737360"/>
            <a:ext cx="3794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Core entities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User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identity, role, plan and usage.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Notice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title, organisation, category, priority, publish and expiry dates, source URL.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Document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an uploaded or scraped file, its extraction status and OCR flag.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Alert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a user rule of type keyword, category or organisation, with match history.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ScrapeSource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a configured site, its cached CSS schema and pagination scheme.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300" b="1" i="0">
                <a:solidFill>
                  <a:srgbClr val="1A1A1A"/>
                </a:solidFill>
                <a:latin typeface="Times New Roman"/>
              </a:rPr>
              <a:t>ScrapeRun / ScrapedItem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 — run history, live status and deduplicated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A636E"/>
                </a:solidFill>
                <a:latin typeface="Times New Roman"/>
              </a:rPr>
              <a:t>Figure 2 — Entity relationship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User Interface — Public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Landing page and the notice browser, open to every visitor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9</a:t>
            </a:r>
          </a:p>
        </p:txBody>
      </p:sp>
      <p:pic>
        <p:nvPicPr>
          <p:cNvPr id="7" name="Picture 6" descr="01_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262" y="1691640"/>
            <a:ext cx="5163670" cy="3200400"/>
          </a:xfrm>
          <a:prstGeom prst="rect">
            <a:avLst/>
          </a:prstGeom>
          <a:ln w="9525">
            <a:solidFill>
              <a:srgbClr val="D4D9DF"/>
            </a:solidFill>
          </a:ln>
        </p:spPr>
      </p:pic>
      <p:pic>
        <p:nvPicPr>
          <p:cNvPr id="8" name="Picture 7" descr="03_not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762" y="1691640"/>
            <a:ext cx="5163670" cy="3200400"/>
          </a:xfrm>
          <a:prstGeom prst="rect">
            <a:avLst/>
          </a:prstGeom>
          <a:ln w="9525">
            <a:solidFill>
              <a:srgbClr val="D4D9D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8368" y="5074920"/>
            <a:ext cx="52774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C2D48"/>
                </a:solidFill>
                <a:latin typeface="Times New Roman"/>
              </a:rPr>
              <a:t>Landing page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Value proposition, live notice counts and a direct entry point to search. Language toggle and theme switch are available before sign-in.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5074920"/>
            <a:ext cx="52774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C2D48"/>
                </a:solidFill>
                <a:latin typeface="Times New Roman"/>
              </a:rPr>
              <a:t>Notice browser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Full-text search with category, organisation, source and date filters; priority badges and deadline indicators on every card.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User Interface — Citizen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Everything a signed-in citizen keeps track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10</a:t>
            </a:r>
          </a:p>
        </p:txBody>
      </p:sp>
      <p:pic>
        <p:nvPicPr>
          <p:cNvPr id="7" name="Picture 6" descr="04_us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554" y="1645920"/>
            <a:ext cx="5900467" cy="3657600"/>
          </a:xfrm>
          <a:prstGeom prst="rect">
            <a:avLst/>
          </a:prstGeom>
          <a:ln w="9525">
            <a:solidFill>
              <a:srgbClr val="D4D9D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18120" y="1737360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50" b="1" i="0">
                <a:solidFill>
                  <a:srgbClr val="0C2D48"/>
                </a:solidFill>
                <a:latin typeface="Times New Roman"/>
              </a:rPr>
              <a:t>Overview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Saved notices, active alert rules, recent matches and remaining plan quota at a glance.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450" b="1" i="0">
                <a:solidFill>
                  <a:srgbClr val="0C2D48"/>
                </a:solidFill>
                <a:latin typeface="Times New Roman"/>
              </a:rPr>
              <a:t>Saved notices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One-click bookmarking from any notice card, with the original source link preserved.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450" b="1" i="0">
                <a:solidFill>
                  <a:srgbClr val="0C2D48"/>
                </a:solidFill>
                <a:latin typeface="Times New Roman"/>
              </a:rPr>
              <a:t>My alerts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Create keyword, category or organisation rules, enable or disable them, and see match counts.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450" b="1" i="0">
                <a:solidFill>
                  <a:srgbClr val="0C2D48"/>
                </a:solidFill>
                <a:latin typeface="Times New Roman"/>
              </a:rPr>
              <a:t>Activity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A chronological log of searches, saves, alert matches and AI queries.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450" b="1" i="0">
                <a:solidFill>
                  <a:srgbClr val="0C2D48"/>
                </a:solidFill>
                <a:latin typeface="Times New Roman"/>
              </a:rPr>
              <a:t>Settings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Profile, notification channels (email and WhatsApp), language and theme.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39496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A636E"/>
                </a:solidFill>
                <a:latin typeface="Times New Roman"/>
              </a:rPr>
              <a:t>Figure 3 — Dashboard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User Interface —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Source configuration, live scrape monitoring and platform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11</a:t>
            </a:r>
          </a:p>
        </p:txBody>
      </p:sp>
      <p:pic>
        <p:nvPicPr>
          <p:cNvPr id="7" name="Picture 6" descr="07_admin_scra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54" y="1645920"/>
            <a:ext cx="4867886" cy="3017520"/>
          </a:xfrm>
          <a:prstGeom prst="rect">
            <a:avLst/>
          </a:prstGeom>
          <a:ln w="9525">
            <a:solidFill>
              <a:srgbClr val="D4D9DF"/>
            </a:solidFill>
          </a:ln>
        </p:spPr>
      </p:pic>
      <p:pic>
        <p:nvPicPr>
          <p:cNvPr id="8" name="Picture 7" descr="10_admin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54" y="1645920"/>
            <a:ext cx="4867886" cy="3017520"/>
          </a:xfrm>
          <a:prstGeom prst="rect">
            <a:avLst/>
          </a:prstGeom>
          <a:ln w="9525">
            <a:solidFill>
              <a:srgbClr val="D4D9D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8368" y="4892040"/>
            <a:ext cx="52774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C2D48"/>
                </a:solidFill>
                <a:latin typeface="Times New Roman"/>
              </a:rPr>
              <a:t>Scraping console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Add or edit a source, trigger a run on demand, and follow live status messages such as “Crawling Notice listing, page 2…” instead of an opaque spinner.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4892040"/>
            <a:ext cx="52774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C2D48"/>
                </a:solidFill>
                <a:latin typeface="Times New Roman"/>
              </a:rPr>
              <a:t>User and plan management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5A636E"/>
                </a:solidFill>
                <a:latin typeface="Times New Roman"/>
              </a:rPr>
              <a:t>Role assignment, account status, subscription plans and per-user quota usage; further screens cover notices, categories, alert channels and system settings.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Pipeline I — Notice Scraping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Dynamic, multi-source crawling with no per-site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12</a:t>
            </a:r>
          </a:p>
        </p:txBody>
      </p:sp>
      <p:sp>
        <p:nvSpPr>
          <p:cNvPr id="7" name="Pentagon 6"/>
          <p:cNvSpPr/>
          <p:nvPr/>
        </p:nvSpPr>
        <p:spPr>
          <a:xfrm>
            <a:off x="658368" y="1645920"/>
            <a:ext cx="1721053" cy="914400"/>
          </a:xfrm>
          <a:prstGeom prst="homePlate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Admin adds
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Name, base URL,
listing URLs</a:t>
            </a:r>
          </a:p>
        </p:txBody>
      </p:sp>
      <p:sp>
        <p:nvSpPr>
          <p:cNvPr id="9" name="Pentagon 8"/>
          <p:cNvSpPr/>
          <p:nvPr/>
        </p:nvSpPr>
        <p:spPr>
          <a:xfrm>
            <a:off x="2489149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crawl4ai
renders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9149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Playwright renders
JavaScript pages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19930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Schema
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930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Cached → LLM →
heuristics</a:t>
            </a:r>
          </a:p>
        </p:txBody>
      </p:sp>
      <p:sp>
        <p:nvSpPr>
          <p:cNvPr id="13" name="Pentagon 12"/>
          <p:cNvSpPr/>
          <p:nvPr/>
        </p:nvSpPr>
        <p:spPr>
          <a:xfrm>
            <a:off x="6150711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Extract rows
+ details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0711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Title, link, date,
then detail body</a:t>
            </a:r>
          </a:p>
        </p:txBody>
      </p:sp>
      <p:sp>
        <p:nvSpPr>
          <p:cNvPr id="15" name="Pentagon 14"/>
          <p:cNvSpPr/>
          <p:nvPr/>
        </p:nvSpPr>
        <p:spPr>
          <a:xfrm>
            <a:off x="7981492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Dedupe &amp;
upsert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1492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Prisma writes to
PostgreSQL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2273" y="1645920"/>
            <a:ext cx="1721053" cy="91440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Notice
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2273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Indexed, alerted,
searchable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9476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Three-tier schema detection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2D48"/>
                </a:solidFill>
                <a:latin typeface="Times New Roman"/>
              </a:rPr>
              <a:t>1. Cached schema (free) — 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reuse the CSS schema stored on the source from the last successful run. This is the path almost every run takes.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2D48"/>
                </a:solidFill>
                <a:latin typeface="Times New Roman"/>
              </a:rPr>
              <a:t>2. LLM-assisted (paid once) — 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only when no schema is cached or the cached one returns zero rows; Groq reads the page once and proposes a schema.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 i="0">
                <a:solidFill>
                  <a:srgbClr val="0C2D48"/>
                </a:solidFill>
                <a:latin typeface="Times New Roman"/>
              </a:rPr>
              <a:t>3. Structural heuristics (free) — </a:t>
            </a:r>
            <a:r>
              <a:rPr sz="1300" b="0" i="0">
                <a:solidFill>
                  <a:srgbClr val="1A1A1A"/>
                </a:solidFill>
                <a:latin typeface="Times New Roman"/>
              </a:rPr>
              <a:t>group sibling DOM elements by tag and class, score by repetition and list-like naming, penalise navigation and footers.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4480560" cy="2194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3794760"/>
            <a:ext cx="38100" cy="219456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42048" y="3941064"/>
            <a:ext cx="407822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Why this design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Detection cost is paid at most once per source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per site redesign — never on a scheduled run.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Detail pages are handled generically: chrome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(nav, header, footer, script) is stripped and the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densest text block is kept, so no body selector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has to be written for any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Pipeline II — Document Ingestion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From an uploaded file to searchable vectors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13</a:t>
            </a:r>
          </a:p>
        </p:txBody>
      </p:sp>
      <p:sp>
        <p:nvSpPr>
          <p:cNvPr id="7" name="Pentagon 6"/>
          <p:cNvSpPr/>
          <p:nvPr/>
        </p:nvSpPr>
        <p:spPr>
          <a:xfrm>
            <a:off x="658368" y="1645920"/>
            <a:ext cx="1721053" cy="914400"/>
          </a:xfrm>
          <a:prstGeom prst="homePlate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Upload
(NestJS)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Validated, stored,
status tracked</a:t>
            </a:r>
          </a:p>
        </p:txBody>
      </p:sp>
      <p:sp>
        <p:nvSpPr>
          <p:cNvPr id="9" name="Pentagon 8"/>
          <p:cNvSpPr/>
          <p:nvPr/>
        </p:nvSpPr>
        <p:spPr>
          <a:xfrm>
            <a:off x="2489149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Extract text
/ OCR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9149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pypdf, then Tesseract
nep+eng fallback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19930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Structure-aware
chunking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930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800 chars, 120
overlap</a:t>
            </a:r>
          </a:p>
        </p:txBody>
      </p:sp>
      <p:sp>
        <p:nvSpPr>
          <p:cNvPr id="13" name="Pentagon 12"/>
          <p:cNvSpPr/>
          <p:nvPr/>
        </p:nvSpPr>
        <p:spPr>
          <a:xfrm>
            <a:off x="6150711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Batched
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0711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e5-base, 768-dim,
passage: prefix</a:t>
            </a:r>
          </a:p>
        </p:txBody>
      </p:sp>
      <p:sp>
        <p:nvSpPr>
          <p:cNvPr id="15" name="Pentagon 14"/>
          <p:cNvSpPr/>
          <p:nvPr/>
        </p:nvSpPr>
        <p:spPr>
          <a:xfrm>
            <a:off x="7981492" y="1645920"/>
            <a:ext cx="1721053" cy="91440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Index into
Qdrant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1492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Dense + BM25
sparse vectors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2273" y="1645920"/>
            <a:ext cx="1721053" cy="91440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Ready to
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2273" y="2633472"/>
            <a:ext cx="172105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Live progress shown
in the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9476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Chunking that respects structure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  <a:latin typeface="Times New Roman"/>
              </a:rPr>
              <a:t>Text is split on blank lines into paragraphs; paragraphs longer than the chunk size are split on sentence ends — including the Devanagari danda (।) — and only then on word boundaries. Segments are greedily packed, and each chunk begins with the tail of the previous one so a fact spanning a boundary still appears whole in at least one chunk.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300" b="0" i="1">
                <a:solidFill>
                  <a:srgbClr val="5A636E"/>
                </a:solidFill>
                <a:latin typeface="Times New Roman"/>
              </a:rPr>
              <a:t>The overlap is snapped to a word boundary, so no chunk starts mid-word — this measurably improved both retrieval quality and displayed 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4480560" cy="2194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3794760"/>
            <a:ext cx="38100" cy="219456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42048" y="3941064"/>
            <a:ext cx="407822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Lifecycle and operations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Ingestion runs asynchronously; the UI polls a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progress endpoint for per-stage percentages.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Documents can be embedded and un-embedded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without deleting the underlying 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Metadata (status, owner, timestamps) lives 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PostgreSQL; only vectors live in Qdrant.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Pipeline III — Retrieval and Alerting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A636E"/>
                </a:solidFill>
                <a:latin typeface="Times New Roman"/>
              </a:rPr>
              <a:t>Grounded answers, and notices that find the citizen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43584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RAG query pipeline</a:t>
            </a:r>
          </a:p>
        </p:txBody>
      </p:sp>
      <p:sp>
        <p:nvSpPr>
          <p:cNvPr id="8" name="Pentagon 7"/>
          <p:cNvSpPr/>
          <p:nvPr/>
        </p:nvSpPr>
        <p:spPr>
          <a:xfrm>
            <a:off x="658368" y="2011680"/>
            <a:ext cx="1380744" cy="777240"/>
          </a:xfrm>
          <a:prstGeom prst="homePlate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Intent
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62072"/>
            <a:ext cx="13807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Small talk never
touches Qdrant</a:t>
            </a:r>
          </a:p>
        </p:txBody>
      </p:sp>
      <p:sp>
        <p:nvSpPr>
          <p:cNvPr id="10" name="Pentagon 9"/>
          <p:cNvSpPr/>
          <p:nvPr/>
        </p:nvSpPr>
        <p:spPr>
          <a:xfrm>
            <a:off x="2148840" y="2011680"/>
            <a:ext cx="1380744" cy="77724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Hybrid
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862072"/>
            <a:ext cx="13807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Dense + BM25
run together</a:t>
            </a:r>
          </a:p>
        </p:txBody>
      </p:sp>
      <p:sp>
        <p:nvSpPr>
          <p:cNvPr id="12" name="Pentagon 11"/>
          <p:cNvSpPr/>
          <p:nvPr/>
        </p:nvSpPr>
        <p:spPr>
          <a:xfrm>
            <a:off x="3639312" y="2011680"/>
            <a:ext cx="1380744" cy="77724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RRF +
rescore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862072"/>
            <a:ext cx="13807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Cosine re-score,
threshold, dedupe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9784" y="2011680"/>
            <a:ext cx="1380744" cy="77724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Groq
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862072"/>
            <a:ext cx="13807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Cited markdown,
context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703320"/>
            <a:ext cx="5852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Hybrid retrieval.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Dense embeddings capture meaning; BM25 catches exact identifiers such as notice numbers and dates. Qdrant fuses both rankings with Reciprocal Rank Fusion.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Cosine re-scoring.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Fused ranks are not similarities, so each hit is re-scored against the query vector — restoring a meaningful threshold and the relevance percentage shown to the user.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Grounding.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The model answers only from retrieved context; when the corpus does not contain the answer it says so, and degrades to an extractive answer if no API key is configured.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1572768"/>
            <a:ext cx="12700" cy="416052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1572768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Alert pipeline</a:t>
            </a:r>
          </a:p>
        </p:txBody>
      </p:sp>
      <p:sp>
        <p:nvSpPr>
          <p:cNvPr id="19" name="Pentagon 18"/>
          <p:cNvSpPr/>
          <p:nvPr/>
        </p:nvSpPr>
        <p:spPr>
          <a:xfrm>
            <a:off x="7086600" y="2011680"/>
            <a:ext cx="1026414" cy="777240"/>
          </a:xfrm>
          <a:prstGeom prst="homePlate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New
notice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862072"/>
            <a:ext cx="102641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Scraped or
created</a:t>
            </a:r>
          </a:p>
        </p:txBody>
      </p:sp>
      <p:sp>
        <p:nvSpPr>
          <p:cNvPr id="21" name="Pentagon 20"/>
          <p:cNvSpPr/>
          <p:nvPr/>
        </p:nvSpPr>
        <p:spPr>
          <a:xfrm>
            <a:off x="8222742" y="2011680"/>
            <a:ext cx="1026414" cy="77724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Match
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742" y="2862072"/>
            <a:ext cx="102641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Keyword,
category, org</a:t>
            </a:r>
          </a:p>
        </p:txBody>
      </p:sp>
      <p:sp>
        <p:nvSpPr>
          <p:cNvPr id="23" name="Pentagon 22"/>
          <p:cNvSpPr/>
          <p:nvPr/>
        </p:nvSpPr>
        <p:spPr>
          <a:xfrm>
            <a:off x="9358884" y="2011680"/>
            <a:ext cx="1026414" cy="777240"/>
          </a:xfrm>
          <a:prstGeom prst="homePlate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Fan-out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8884" y="2862072"/>
            <a:ext cx="102641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Per-user rules,
quota checked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95026" y="2011680"/>
            <a:ext cx="1026414" cy="77724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Deliver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95026" y="2862072"/>
            <a:ext cx="102641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A636E"/>
                </a:solidFill>
                <a:latin typeface="Times New Roman"/>
              </a:rPr>
              <a:t>Email and
WhatsApp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0332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Matching.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Every newly published notice is evaluated against all enabled alert rules; matches update the rule's counter and last-matched timestamp.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Channels.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Email is delivered over SMTP; WhatsApp through a self-hosted Evolution API instance, with delivery status recorded per notification.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C5CAB"/>
                </a:solidFill>
                <a:latin typeface="Times New Roman"/>
              </a:rPr>
              <a:t>▪  </a:t>
            </a:r>
            <a:r>
              <a:rPr sz="1250" b="1" i="0">
                <a:solidFill>
                  <a:srgbClr val="1A1A1A"/>
                </a:solidFill>
                <a:latin typeface="Times New Roman"/>
              </a:rPr>
              <a:t>Digests. </a:t>
            </a:r>
            <a:r>
              <a:rPr sz="1250" b="0" i="0">
                <a:solidFill>
                  <a:srgbClr val="1A1A1A"/>
                </a:solidFill>
                <a:latin typeface="Times New Roman"/>
              </a:rPr>
              <a:t>A scheduled digest service batches matches for users who prefer a summary over immediate messages.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C2D48"/>
                </a:solidFill>
                <a:latin typeface="Times New Roman"/>
              </a:rPr>
              <a:t>Deployment, Status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42415"/>
            <a:ext cx="1371600" cy="3175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00800"/>
            <a:ext cx="103263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Suchana AI  ·  Public Notice Management System  ·  Ashok Bhattarai (NP069811)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4008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5A636E"/>
                </a:solidFill>
                <a:latin typeface="Times New Roman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5806440" cy="36576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1848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7265" y="161848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8424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Public site and notice 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7265" y="198424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0428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04288"/>
            <a:ext cx="580644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5000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Authentication and RBAC (JWT)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7265" y="235000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67004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1576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Citizen dashboard and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7265" y="271576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3580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35808"/>
            <a:ext cx="580644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08152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Admin panel and scraping console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7265" y="308152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0156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4728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Scraping pipeline (crawl4ai)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7265" y="344728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6732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3767328"/>
            <a:ext cx="580644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81304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RAG ingestion and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7265" y="381304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3308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17880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Plans, quotas and 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7265" y="417880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Complete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49884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498848"/>
            <a:ext cx="580644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544568"/>
            <a:ext cx="401029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Times New Roman"/>
              </a:rPr>
              <a:t>Cloud deployment and hardening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7265" y="4544568"/>
            <a:ext cx="152182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In 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5806440" cy="6350"/>
          </a:xfrm>
          <a:prstGeom prst="rect">
            <a:avLst/>
          </a:prstGeom>
          <a:solidFill>
            <a:srgbClr val="D4D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1572768"/>
            <a:ext cx="4663440" cy="1920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1572768"/>
            <a:ext cx="38100" cy="192024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1719072"/>
            <a:ext cx="4261104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Deployment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Web on Vercel; API and AI service on EC2;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PostgreSQL on a managed instance; Qdrant and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Evolution API self-hosted in Docker alongside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the AI service.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3703320"/>
            <a:ext cx="4663440" cy="2057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58000" y="3703320"/>
            <a:ext cx="38100" cy="2057400"/>
          </a:xfrm>
          <a:prstGeom prst="rect">
            <a:avLst/>
          </a:prstGeom>
          <a:solidFill>
            <a:srgbClr val="0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9168" y="3849624"/>
            <a:ext cx="426110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0C2D48"/>
                </a:solidFill>
                <a:latin typeface="Times New Roman"/>
              </a:rPr>
              <a:t>Next steps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/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Manual CSS schema override in the admin UI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  for sites that resist automatic detection.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Reranking model ahead of answer generation.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Nepali ↔ English notice translation.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Times New Roman"/>
              </a:rPr>
              <a:t>• Load testing against the 100-user target.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3212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0C2D48"/>
                </a:solidFill>
                <a:latin typeface="Times New Roman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